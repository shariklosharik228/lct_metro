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74" r:id="rId18"/>
    <p:sldId id="371" r:id="rId17"/>
    <p:sldId id="267" r:id="rId26"/>
    <p:sldId id="372" r:id="rId14"/>
    <p:sldId id="263" r:id="rId22"/>
    <p:sldId id="262" r:id="rId21"/>
    <p:sldId id="268" r:id="rId25"/>
    <p:sldId id="373" r:id="rId15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Исходная версия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obstacle</c:v>
                </c:pt>
                <c:pt idx="1">
                  <c:v>platform</c:v>
                </c:pt>
                <c:pt idx="2">
                  <c:v>round-double</c:v>
                </c:pt>
                <c:pt idx="3">
                  <c:v>затвор</c:v>
                </c:pt>
                <c:pt idx="4">
                  <c:v>сечения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Новая версия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obstacle</c:v>
                </c:pt>
                <c:pt idx="1">
                  <c:v>platform</c:v>
                </c:pt>
                <c:pt idx="2">
                  <c:v>round-double</c:v>
                </c:pt>
                <c:pt idx="3">
                  <c:v>затвор</c:v>
                </c:pt>
                <c:pt idx="4">
                  <c:v>сечения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26.png"/><Relationship Id="rId5" Type="http://schemas.openxmlformats.org/officeDocument/2006/relationships/image" Target="../media/image827.png"/><Relationship Id="rId6" Type="http://schemas.openxmlformats.org/officeDocument/2006/relationships/image" Target="../media/image8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8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3000" dirty="0"/>
              <a:t>Геометрический детектор препятствий в тоннеле метро</a:t>
            </a:r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 dirty="0" sz="1400"/>
              <a:t>Команда: MISIS_ — Давыдов Денис, Кулагин Александр, Голышев Юрий</a:t>
            </a:r>
            <a:endParaRPr lang="ru-RU" dirty="0"/>
          </a:p>
          <a:p>
            <a:pPr indent="268288"/>
            <a:r>
              <a:rPr lang="ru-RU" dirty="0" sz="1400"/>
              <a:t>Задача: обнаружение посторонних объектов перед поездом по данным 3D-лидара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Ось пути ведём по стенам там, где рельсы уже не видны (коридор измерен до 77–175 м); границу габарита задают постоянные конструкции; скорость поезда оценивается без одометрии.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Команда: </a:t>
            </a:r>
            <a:r>
              <a:rPr lang="ru-RU" dirty="0">
                <a:solidFill>
                  <a:schemeClr val="tx1"/>
                </a:solidFill>
              </a:rPr>
              <a:t>MISIS_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Участников: </a:t>
            </a:r>
            <a:r>
              <a:rPr lang="ru-RU" dirty="0">
                <a:solidFill>
                  <a:schemeClr val="tx1"/>
                </a:solidFill>
              </a:rPr>
              <a:t>3 человека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>
                <a:solidFill>
                  <a:schemeClr val="accent5"/>
                </a:solidFill>
                <a:latin typeface="+mn-lt"/>
              </a:rPr>
              <a:t>О РЕШЕНИИ И КОМАНДЕ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Не классифицируем объекты, а описываем нормальный тоннель — рельсы, стены, габарит — и ищем всё, что в него не вписывается. Без обучения на размеченных препятствиях.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4992258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5164541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b="1" dirty="0">
                <a:solidFill>
                  <a:schemeClr val="accent5"/>
                </a:solidFill>
              </a:rPr>
              <a:t>Кулагин Александр</a:t>
            </a:r>
          </a:p>
          <a:p>
            <a:pPr marL="0" indent="0">
              <a:buNone/>
            </a:pPr>
            <a:r>
              <a:rPr lang="ru-RU" sz="1300" b="1" dirty="0">
                <a:solidFill>
                  <a:schemeClr val="accent5"/>
                </a:solidFill>
              </a:rPr>
              <a:t>МИСИС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72975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74698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b="1" dirty="0">
                <a:solidFill>
                  <a:schemeClr val="accent5"/>
                </a:solidFill>
              </a:rPr>
              <a:t>Давыдов Денис</a:t>
            </a:r>
          </a:p>
          <a:p>
            <a:pPr marL="0" indent="0">
              <a:buNone/>
            </a:pPr>
            <a:r>
              <a:rPr lang="ru-RU" sz="1300" b="1" dirty="0">
                <a:solidFill>
                  <a:schemeClr val="accent5"/>
                </a:solidFill>
              </a:rPr>
              <a:t>НИУ ВШЭ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2686940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 descr="1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4925" b="4925"/>
          <a:stretch>
            <a:fillRect/>
          </a:stretch>
        </p:blipFill>
        <p:spPr>
          <a:xfrm>
            <a:off x="2922261" y="1816054"/>
            <a:ext cx="1722566" cy="1552901"/>
          </a:xfrm>
        </p:spPr>
      </p:pic>
      <p:pic>
        <p:nvPicPr>
          <p:cNvPr id="3" name="Рисунок 2" descr="2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5230" b="5230"/>
          <a:stretch>
            <a:fillRect/>
          </a:stretch>
        </p:blipFill>
        <p:spPr>
          <a:xfrm>
            <a:off x="5227331" y="1826554"/>
            <a:ext cx="1722566" cy="1542401"/>
          </a:xfrm>
        </p:spPr>
      </p:pic>
      <p:pic>
        <p:nvPicPr>
          <p:cNvPr id="4" name="Рисунок 3" descr="3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6"/>
          <a:srcRect t="4727" b="4727"/>
          <a:stretch>
            <a:fillRect/>
          </a:stretch>
        </p:blipFill>
        <p:spPr>
          <a:xfrm>
            <a:off x="7532648" y="1809238"/>
            <a:ext cx="1722567" cy="1559717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КОМАНДА</a:t>
            </a:r>
            <a:endParaRPr lang="ru-RU" dirty="0">
              <a:latin typeface="+mn-lt"/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2859223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b="1" dirty="0">
                <a:solidFill>
                  <a:schemeClr val="accent5"/>
                </a:solidFill>
              </a:rPr>
              <a:t>Голышев Юрий</a:t>
            </a:r>
          </a:p>
          <a:p>
            <a:pPr marL="0" indent="0">
              <a:buNone/>
            </a:pPr>
            <a:r>
              <a:rPr lang="ru-RU" sz="1300" b="1" dirty="0">
                <a:solidFill>
                  <a:schemeClr val="accent5"/>
                </a:solidFill>
              </a:rPr>
              <a:t>МИСИС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ЗАДАЧА И ВЫЗОВЫ</a:t>
            </a:r>
            <a:endParaRPr lang="ru-RU" dirty="0">
              <a:latin typeface="+mn-lt"/>
            </a:endParaRP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3493335"/>
            <a:ext cx="932688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Реальные записи показали то, чего не было на симуляторе: уклон пути и лоток, служебный проход, неровные стены, кривые, гермозатворы. Первая версия давала 14 ложных кадров из 1611 — после доработок остался 1.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292555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1783080"/>
            <a:ext cx="932688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В тоннеле почти всегда пусто, размеченных препятствий мало. Идея из ТЗ — хорошо описать нормальный тоннель и искать всё, что в него не вписывается, — показалась нам самой честной.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125417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109977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276114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125417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292555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500" dirty="0">
                <a:solidFill>
                  <a:schemeClr val="tx1"/>
                </a:solidFill>
              </a:rPr>
              <a:t>Вход: облако Hesai-128 (~300 тыс. точек), ROS 2 Humble, Docker</a:t>
            </a:r>
          </a:p>
          <a:p>
            <a:r>
              <a:rPr lang="ru-RU" sz="1500" dirty="0">
                <a:solidFill>
                  <a:schemeClr val="tx1"/>
                </a:solidFill>
              </a:rPr>
              <a:t>Ось пути: рельсы вблизи (40–70 м), дальше по стенам — до 77–175 м</a:t>
            </a:r>
          </a:p>
          <a:p>
            <a:r>
              <a:rPr lang="ru-RU" sz="1500" dirty="0">
                <a:solidFill>
                  <a:schemeClr val="tx1"/>
                </a:solidFill>
              </a:rPr>
              <a:t>Модель нормального сечения пути: уклон, лоток, полки</a:t>
            </a:r>
          </a:p>
          <a:p>
            <a:r>
              <a:rPr lang="ru-RU" sz="1500" dirty="0">
                <a:solidFill>
                  <a:schemeClr val="tx1"/>
                </a:solidFill>
              </a:rPr>
              <a:t>Габарит по постоянным конструкциям, DBSCAN, трекер 2/3, 3/5, 4/6</a:t>
            </a:r>
          </a:p>
          <a:p>
            <a:r>
              <a:rPr lang="ru-RU" sz="1500" dirty="0">
                <a:solidFill>
                  <a:schemeClr val="tx1"/>
                </a:solidFill>
              </a:rPr>
              <a:t>Выход: расстояние, категория, уверенность, TTC, флаг торможения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500" dirty="0">
                <a:solidFill>
                  <a:schemeClr val="tx1"/>
                </a:solidFill>
              </a:rPr>
              <a:t>Решение обходится без размеченных препятствий и работает с любым тоннелем, который можно описать геометрией</a:t>
            </a:r>
          </a:p>
          <a:p>
            <a:r>
              <a:rPr lang="ru-RU" sz="1500" dirty="0">
                <a:solidFill>
                  <a:schemeClr val="tx1"/>
                </a:solidFill>
              </a:rPr>
              <a:t>Запуск для инженера метро: docker build → docker run → ros2 bag play</a:t>
            </a:r>
          </a:p>
          <a:p>
            <a:r>
              <a:rPr lang="ru-RU" sz="1500" dirty="0">
                <a:solidFill>
                  <a:schemeClr val="tx1"/>
                </a:solidFill>
              </a:rPr>
              <a:t>Дальше: геометрия пути в отдельный поток или C++, проверка дальности на новых записях, безопасная экстраполяция оси в кривых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10058400" cy="552061"/>
          </a:xfrm>
        </p:spPr>
        <p:txBody>
          <a:bodyPr/>
          <a:lstStyle/>
          <a:p>
            <a:r>
              <a:rPr lang="ru-RU" sz="2600" dirty="0">
                <a:solidFill>
                  <a:schemeClr val="bg1"/>
                </a:solidFill>
              </a:rPr>
              <a:t>ОТ ОБЛАКА К ПРЕПЯТСТВИЮ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22" name="Picture 21" descr="det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81328"/>
            <a:ext cx="10789920" cy="4131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1792" y="57424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10F53"/>
                </a:solidFill>
              </a:rPr>
              <a:t>Запись doubleT_obstacle: человек пересекает путь на 55–57 м. Первое подтверждение — кадр 16, 55,6 м, уверенность 1,0; ложных кадров в записи 0.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r>
              <a:rPr lang="ru-RU" sz="2000" dirty="0">
                <a:solidFill>
                  <a:schemeClr val="accent5"/>
                </a:solidFill>
              </a:rPr>
              <a:t>ОГРАНИЧЕНИЯ И ПЛАНЫ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7D71A7D-1E9E-F7B1-53EA-139E488D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6096000" cy="6857999"/>
          </a:xfrm>
        </p:spPr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r>
              <a:rPr lang="ru-RU" dirty="0" b="1" sz="1600">
                <a:solidFill>
                  <a:schemeClr val="tx1"/>
                </a:solidFill>
              </a:rPr>
              <a:t>Границы метода</a:t>
            </a:r>
            <a:r>
              <a:rPr lang="ru-RU" dirty="0" sz="1600">
                <a:solidFill>
                  <a:schemeClr val="tx1"/>
                </a:solidFill>
              </a:rPr>
              <a:t/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 sz="1600">
                <a:solidFill>
                  <a:schemeClr val="tx1"/>
                </a:solidFill>
              </a:rPr>
              <a:t>Дальность больше 57 м на реальных данных не проверена: в записях нет таких препятствий.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 sz="1600">
                <a:solidFill>
                  <a:schemeClr val="tx1"/>
                </a:solidFill>
              </a:rPr>
              <a:t>На симуляторе 100 м — 56 % кадров, 150 м — 0 %. Пороги подобраны на тех же записях: отложенной выборки нет.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 b="1" sz="1600">
                <a:solidFill>
                  <a:schemeClr val="tx1"/>
                </a:solidFill>
              </a:rPr>
              <a:t>Планы</a:t>
            </a:r>
            <a:r>
              <a:rPr lang="ru-RU" dirty="0" sz="1600">
                <a:solidFill>
                  <a:schemeClr val="tx1"/>
                </a:solidFill>
              </a:rPr>
              <a:t/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 sz="1600">
                <a:solidFill>
                  <a:schemeClr val="tx1"/>
                </a:solidFill>
              </a:rPr>
              <a:t>Проверить на отложенных записях, вынести геометрию пути в отдельный поток или C++, вернуть безопасную экстраполяцию оси в кривых.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FFFFF"/>
                </a:solidFill>
              </a:rPr>
              <a:t>57 м</a:t>
            </a:r>
          </a:p>
          <a:p>
            <a:r>
              <a:rPr sz="1600">
                <a:solidFill>
                  <a:srgbClr val="FFD6E4"/>
                </a:solidFill>
              </a:rPr>
              <a:t>дальность, подтверждённая на реальных записях: человек на 55–57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0233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FFFFF"/>
                </a:solidFill>
              </a:rPr>
              <a:t>100 м</a:t>
            </a:r>
          </a:p>
          <a:p>
            <a:r>
              <a:rPr sz="1600">
                <a:solidFill>
                  <a:srgbClr val="FFD6E4"/>
                </a:solidFill>
              </a:rPr>
              <a:t>на симуляторе: человек обнаруживается в 56 % кадров, на 150 м — уже нет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 lang="ru-RU" dirty="0" sz="1800">
                <a:solidFill>
                  <a:srgbClr val="F92571"/>
                </a:solidFill>
              </a:rPr>
              <a:t>Ось пути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r>
              <a:rPr lang="ru-RU" dirty="0" sz="1500">
                <a:solidFill>
                  <a:schemeClr val="tx1"/>
                </a:solidFill>
              </a:rPr>
              <a:t>Рельсы вблизи, стены тоннеля вдали: коридор измерен до 77–175 м.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 lang="ru-RU" dirty="0" sz="1800">
                <a:solidFill>
                  <a:srgbClr val="F92571"/>
                </a:solidFill>
              </a:rPr>
              <a:t>Сечение пути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r>
              <a:rPr lang="ru-RU" sz="1500">
                <a:solidFill>
                  <a:schemeClr val="tx1"/>
                </a:solidFill>
              </a:rPr>
              <a:t>Модель нормального профиля: уклон, лоток, полки. Они не дают ложных «низких объектов».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 lang="ru-RU" sz="1800">
                <a:solidFill>
                  <a:srgbClr val="F92571"/>
                </a:solidFill>
              </a:rPr>
              <a:t>Габарит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r>
              <a:rPr lang="ru-RU" sz="1500">
                <a:solidFill>
                  <a:schemeClr val="tx1"/>
                </a:solidFill>
              </a:rPr>
              <a:t>Границу задают постоянные конструкции, мимо которых поезд уже проходит.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 lang="ru-RU" sz="1800">
                <a:solidFill>
                  <a:srgbClr val="F92571"/>
                </a:solidFill>
              </a:rPr>
              <a:t>Трекинг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r>
              <a:rPr lang="ru-RU" dirty="0" sz="1500">
                <a:solidFill>
                  <a:schemeClr val="tx1"/>
                </a:solidFill>
              </a:rPr>
              <a:t>3 кадра с компенсацией движения и трекер: 2/3, 3/5 или 4/6 кадров по дальности.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dirty="0"/>
              <a:t>ИДЕЯ РЕШЕНИЯ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lang="ru-RU" b="1" dirty="0">
                <a:solidFill>
                  <a:schemeClr val="accent5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lang="ru-RU" b="1" dirty="0">
                <a:solidFill>
                  <a:schemeClr val="accent5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lang="ru-RU" b="1" dirty="0">
                <a:solidFill>
                  <a:schemeClr val="accent5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lang="ru-RU" sz="1800" dirty="0">
                <a:solidFill>
                  <a:srgbClr val="F92571"/>
                </a:solidFill>
              </a:rPr>
              <a:t>Тоннель почти всегда пуст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r>
              <a:rPr lang="ru-RU" dirty="0" sz="1600">
                <a:solidFill>
                  <a:schemeClr val="tx1"/>
                </a:solidFill>
              </a:rPr>
              <a:t>Размеченных примеров препятствий мало, обучать классификатор объектов не на чем.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 lang="ru-RU" sz="1800" dirty="0">
                <a:solidFill>
                  <a:srgbClr val="F92571"/>
                </a:solidFill>
              </a:rPr>
              <a:t>Однородная среда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r>
              <a:rPr lang="ru-RU" sz="1600">
                <a:solidFill>
                  <a:schemeClr val="tx1"/>
                </a:solidFill>
              </a:rPr>
              <a:t>Рельсы, стены, кабели и одинаковые конструкции. Важно не «найти человека», а понять, что не вписывается в норму.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lang="ru-RU" sz="1800">
                <a:solidFill>
                  <a:srgbClr val="F92571"/>
                </a:solidFill>
              </a:rPr>
              <a:t>Луч скользит вдоль пути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r>
              <a:rPr lang="ru-RU" sz="1600">
                <a:solidFill>
                  <a:schemeClr val="tx1"/>
                </a:solidFill>
              </a:rPr>
              <a:t>Рельсы пропадают из облака на 40–70 м, а препятствие нужно увидеть заранее. Дальше ось пути приходится вести по стенам.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lang="ru-RU" dirty="0">
                <a:solidFill>
                  <a:schemeClr val="accent5"/>
                </a:solidFill>
              </a:rPr>
              <a:t>ЗАДАЧА И ВЫЗОВЫ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r>
              <a:rPr lang="ru-RU" sz="4400" b="1" dirty="0">
                <a:solidFill>
                  <a:schemeClr val="accent5"/>
                </a:solidFill>
              </a:rPr>
              <a:t>01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r>
              <a:rPr lang="ru-RU" sz="4400" b="1" dirty="0">
                <a:solidFill>
                  <a:schemeClr val="accent5"/>
                </a:solidFill>
              </a:rPr>
              <a:t>02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r>
              <a:rPr lang="ru-RU" sz="4400" b="1" dirty="0">
                <a:solidFill>
                  <a:schemeClr val="accent5"/>
                </a:solidFill>
              </a:rPr>
              <a:t>03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ru-RU" sz="1400" b="1">
                <a:solidFill>
                  <a:schemeClr val="tx1"/>
                </a:solidFill>
              </a:rPr>
              <a:t>Симулятор: человек, поезд стоит</a:t>
            </a:r>
            <a:r>
              <a:rPr lang="ru-RU" sz="1400">
                <a:solidFill>
                  <a:schemeClr val="tx1"/>
                </a:solidFill>
              </a:rPr>
              <a:t/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lang="ru-RU" sz="1400" b="1">
                <a:solidFill>
                  <a:schemeClr val="tx1"/>
                </a:solidFill>
              </a:rPr>
              <a:t/>
            </a:r>
            <a:r>
              <a:rPr lang="ru-RU" sz="1400">
                <a:solidFill>
                  <a:schemeClr val="tx1"/>
                </a:solidFill>
              </a:rPr>
              <a:t>на 30 м — 100 % кадров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lang="ru-RU" sz="1400" b="1">
                <a:solidFill>
                  <a:schemeClr val="tx1"/>
                </a:solidFill>
              </a:rPr>
              <a:t/>
            </a:r>
            <a:r>
              <a:rPr lang="ru-RU" sz="1400">
                <a:solidFill>
                  <a:schemeClr val="tx1"/>
                </a:solidFill>
              </a:rPr>
              <a:t>на 60 м — 100 %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lang="ru-RU" sz="1400" b="1">
                <a:solidFill>
                  <a:schemeClr val="tx1"/>
                </a:solidFill>
              </a:rPr>
              <a:t/>
            </a:r>
            <a:r>
              <a:rPr lang="ru-RU" sz="1400">
                <a:solidFill>
                  <a:schemeClr val="tx1"/>
                </a:solidFill>
              </a:rPr>
              <a:t>на 100 м — 56 %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lang="ru-RU" sz="1400" b="1">
                <a:solidFill>
                  <a:schemeClr val="tx1"/>
                </a:solidFill>
              </a:rPr>
              <a:t/>
            </a:r>
            <a:r>
              <a:rPr lang="ru-RU" sz="1400">
                <a:solidFill>
                  <a:schemeClr val="tx1"/>
                </a:solidFill>
              </a:rPr>
              <a:t>на 150 м — 0 %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lang="ru-RU" sz="1400" b="1">
                <a:solidFill>
                  <a:schemeClr val="tx1"/>
                </a:solidFill>
              </a:rPr>
              <a:t/>
            </a:r>
            <a:r>
              <a:rPr lang="ru-RU" sz="1400">
                <a:solidFill>
                  <a:schemeClr val="tx1"/>
                </a:solidFill>
              </a:rPr>
              <a:t>В реальных записях препятствий дальше 57 м нет, поэтому дальность проверена только на симуляторе.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dirty="0" sz="1400">
                <a:solidFill>
                  <a:schemeClr val="tx1"/>
                </a:solidFill>
              </a:rPr>
              <a:t>Уклон пути и лоток → модель сечения пути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chemeClr val="tx1"/>
                </a:solidFill>
              </a:rPr>
              <a:t>Служебный проход в 1,1–1,4 м → габарит по конструкциям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chemeClr val="tx1"/>
                </a:solidFill>
              </a:rPr>
              <a:t>Неровные стены → медиана по стене, калибровка по сплошной стороне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chemeClr val="tx1"/>
                </a:solidFill>
              </a:rPr>
              <a:t>Переходная кривая → экстраполяция оси выключена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dirty="0" sz="1400">
                <a:solidFill>
                  <a:schemeClr val="tx1"/>
                </a:solidFill>
              </a:rPr>
              <a:t>Платформа «подхватывала» пол → ограничения уровня пола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dirty="0"/>
              <a:t>УРОКИ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dirty="0" sz="3000">
                <a:solidFill>
                  <a:schemeClr val="tx1"/>
                </a:solidFill>
              </a:rPr>
              <a:t>14 → 1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</a:pPr>
            <a:r>
              <a:rPr lang="ru-RU" dirty="0" sz="1500">
                <a:solidFill>
                  <a:schemeClr val="tx1"/>
                </a:solidFill>
              </a:rPr>
              <a:t>ложных кадров из 1611 на реальных записях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dirty="0" sz="3000">
                <a:solidFill>
                  <a:schemeClr val="tx1"/>
                </a:solidFill>
              </a:rPr>
              <a:t>47 кадров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</a:pPr>
            <a:r>
              <a:rPr lang="ru-RU" dirty="0" sz="1500">
                <a:solidFill>
                  <a:schemeClr val="tx1"/>
                </a:solidFill>
              </a:rPr>
              <a:t>с человеком на 55–57 м, первое подтверждение на 16-м кадре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dirty="0" sz="3000">
                <a:solidFill>
                  <a:schemeClr val="tx1"/>
                </a:solidFill>
              </a:rPr>
              <a:t>≈100–115 мс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</a:pPr>
            <a:r>
              <a:rPr lang="ru-RU" dirty="0" sz="1500">
                <a:solidFill>
                  <a:schemeClr val="tx1"/>
                </a:solidFill>
              </a:rPr>
              <a:t>на кадр полного облака (медиана, p95 ≈150 мс) на 2 слабых ядрах облака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r>
              <a:rPr lang="ru-RU" dirty="0"/>
              <a:t>РЕЗУЛЬТАТЫ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dirty="0" b="1" sz="1600">
                <a:solidFill>
                  <a:schemeClr val="tx1"/>
                </a:solidFill>
              </a:rPr>
              <a:t>Запуск</a:t>
            </a:r>
            <a:r>
              <a:rPr lang="ru-RU" dirty="0" sz="1600">
                <a:solidFill>
                  <a:schemeClr val="tx1"/>
                </a:solidFill>
              </a:rPr>
              <a:t/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 sz="1600">
                <a:solidFill>
                  <a:schemeClr val="tx1"/>
                </a:solidFill>
              </a:rPr>
              <a:t>docker build → docker run → ros2 launch demo.launch.py. Bag читается напрямую, все параметры — ROS params.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dirty="0" b="1" sz="1600">
                <a:solidFill>
                  <a:schemeClr val="tx1"/>
                </a:solidFill>
              </a:rPr>
              <a:t>Выход</a:t>
            </a:r>
            <a:r>
              <a:rPr lang="ru-RU" dirty="0" sz="1600">
                <a:solidFill>
                  <a:schemeClr val="tx1"/>
                </a:solidFill>
              </a:rPr>
              <a:t/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 sz="1600">
                <a:solidFill>
                  <a:schemeClr val="tx1"/>
                </a:solidFill>
              </a:rPr>
              <a:t>/detected, /distance, /confidence, /brake_required, /status (JSON) и маркеры для RViz.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600">
                <a:solidFill>
                  <a:schemeClr val="tx1"/>
                </a:solidFill>
              </a:rPr>
              <a:t>Проверка</a:t>
            </a:r>
            <a:r>
              <a:rPr lang="ru-RU" sz="1600">
                <a:solidFill>
                  <a:schemeClr val="tx1"/>
                </a:solidFill>
              </a:rPr>
              <a:t/>
            </a:r>
            <a:endParaRPr lang="ru-RU">
              <a:solidFill>
                <a:schemeClr val="tx1"/>
              </a:solidFill>
            </a:endParaRPr>
          </a:p>
          <a:p>
            <a:r>
              <a:rPr lang="ru-RU" sz="1600">
                <a:solidFill>
                  <a:schemeClr val="tx1"/>
                </a:solidFill>
              </a:rPr>
              <a:t>15 тестов, включая end-to-end на симуляторе; утилиты для прогона записей без ROS.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dirty="0"/>
              <a:t>ЗАПУСК И ВЫХОД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0" dirty="0" sz="1600">
                <a:solidFill>
                  <a:schemeClr val="accent5"/>
                </a:solidFill>
              </a:rPr>
              <a:t>Предобработка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r>
              <a:rPr lang="ru-RU" dirty="0" sz="1300">
                <a:solidFill>
                  <a:schemeClr val="tx1"/>
                </a:solidFill>
              </a:rPr>
              <a:t>Очистка, перевод в систему поезда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0" dirty="0" sz="1600">
                <a:solidFill>
                  <a:schemeClr val="accent5"/>
                </a:solidFill>
              </a:rPr>
              <a:t>Ось пути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r>
              <a:rPr lang="ru-RU" sz="1300">
                <a:solidFill>
                  <a:schemeClr val="tx1"/>
                </a:solidFill>
              </a:rPr>
              <a:t>Рельсы вблизи, стены вдали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0" dirty="0" sz="1600">
                <a:solidFill>
                  <a:schemeClr val="accent5"/>
                </a:solidFill>
              </a:rPr>
              <a:t>Норма тоннеля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r>
              <a:rPr lang="ru-RU" sz="1300">
                <a:solidFill>
                  <a:schemeClr val="tx1"/>
                </a:solidFill>
              </a:rPr>
              <a:t>Сечение пути и габарит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0" sz="1600">
                <a:solidFill>
                  <a:schemeClr val="accent5"/>
                </a:solidFill>
              </a:rPr>
              <a:t>Кластеризация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r>
              <a:rPr lang="ru-RU" dirty="0" sz="1300">
                <a:solidFill>
                  <a:schemeClr val="tx1"/>
                </a:solidFill>
              </a:rPr>
              <a:t>3 кадра, DBSCAN с растущим eps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0" dirty="0" sz="1600">
                <a:solidFill>
                  <a:schemeClr val="accent5"/>
                </a:solidFill>
              </a:rPr>
              <a:t>Результат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r>
              <a:rPr lang="ru-RU" sz="1300">
                <a:solidFill>
                  <a:schemeClr val="tx1"/>
                </a:solidFill>
              </a:rPr>
              <a:t>Расстояние, TTC, флаг торможения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dirty="0"/>
              <a:t>АРХИТЕКТУРА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